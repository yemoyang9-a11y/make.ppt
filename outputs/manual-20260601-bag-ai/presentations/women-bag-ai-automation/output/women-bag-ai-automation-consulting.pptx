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c9759289e4535" /><Relationship Type="http://schemas.openxmlformats.org/officeDocument/2006/relationships/extended-properties" Target="/docProps/app.xml" Id="R90361f8c988348a4" /><Relationship Type="http://schemas.openxmlformats.org/officeDocument/2006/relationships/officeDocument" Target="/ppt/presentation.xml" Id="R78383c9ac620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67415ee5f4b45"/>
  </p:sldMasterIdLst>
  <p:notesMasterIdLst>
    <p:notesMasterId xmlns:r="http://schemas.openxmlformats.org/officeDocument/2006/relationships" r:id="R7f4f171580344f49"/>
  </p:notesMasterIdLst>
  <p:sldIdLst>
    <p:sldId xmlns:r="http://schemas.openxmlformats.org/officeDocument/2006/relationships" id="256" r:id="R736f42c11cb84d93"/>
    <p:sldId xmlns:r="http://schemas.openxmlformats.org/officeDocument/2006/relationships" id="257" r:id="R056aa967a6814c76"/>
    <p:sldId xmlns:r="http://schemas.openxmlformats.org/officeDocument/2006/relationships" id="258" r:id="Rab6642fc538b450b"/>
    <p:sldId xmlns:r="http://schemas.openxmlformats.org/officeDocument/2006/relationships" id="259" r:id="Rf520ed0bd5bf403b"/>
    <p:sldId xmlns:r="http://schemas.openxmlformats.org/officeDocument/2006/relationships" id="260" r:id="R589dced925a543a7"/>
    <p:sldId xmlns:r="http://schemas.openxmlformats.org/officeDocument/2006/relationships" id="261" r:id="R7ad4cb451d4b4da7"/>
    <p:sldId xmlns:r="http://schemas.openxmlformats.org/officeDocument/2006/relationships" id="262" r:id="R9c104214da8d4b56"/>
    <p:sldId xmlns:r="http://schemas.openxmlformats.org/officeDocument/2006/relationships" id="263" r:id="R0048bc8726324d82"/>
    <p:sldId xmlns:r="http://schemas.openxmlformats.org/officeDocument/2006/relationships" id="264" r:id="Rc4de6409138a46cc"/>
    <p:sldId xmlns:r="http://schemas.openxmlformats.org/officeDocument/2006/relationships" id="265" r:id="Rc02e4ee0a3a34a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67415ee5f4b45" /><Relationship Type="http://schemas.openxmlformats.org/officeDocument/2006/relationships/theme" Target="/ppt/theme/theme1.xml" Id="Rfdcafe7e31cb4943" /><Relationship Type="http://schemas.openxmlformats.org/officeDocument/2006/relationships/notesMaster" Target="/ppt/notesMasters/notesMaster1.xml" Id="R7f4f171580344f49" /><Relationship Type="http://schemas.openxmlformats.org/officeDocument/2006/relationships/presProps" Target="/ppt/presProps.xml" Id="Rdef83b7e0f4d404c" /><Relationship Type="http://schemas.openxmlformats.org/officeDocument/2006/relationships/viewProps" Target="/ppt/viewProps.xml" Id="R838a19659e5344ff" /><Relationship Type="http://schemas.openxmlformats.org/officeDocument/2006/relationships/tableStyles" Target="/ppt/tableStyles.xml" Id="Rc434fc4a507a4de1" /><Relationship Type="http://schemas.openxmlformats.org/officeDocument/2006/relationships/slide" Target="/ppt/slides/slide1.xml" Id="R736f42c11cb84d93" /><Relationship Type="http://schemas.openxmlformats.org/officeDocument/2006/relationships/slide" Target="/ppt/slides/slide2.xml" Id="R056aa967a6814c76" /><Relationship Type="http://schemas.openxmlformats.org/officeDocument/2006/relationships/slide" Target="/ppt/slides/slide3.xml" Id="Rab6642fc538b450b" /><Relationship Type="http://schemas.openxmlformats.org/officeDocument/2006/relationships/slide" Target="/ppt/slides/slide4.xml" Id="Rf520ed0bd5bf403b" /><Relationship Type="http://schemas.openxmlformats.org/officeDocument/2006/relationships/slide" Target="/ppt/slides/slide5.xml" Id="R589dced925a543a7" /><Relationship Type="http://schemas.openxmlformats.org/officeDocument/2006/relationships/slide" Target="/ppt/slides/slide6.xml" Id="R7ad4cb451d4b4da7" /><Relationship Type="http://schemas.openxmlformats.org/officeDocument/2006/relationships/slide" Target="/ppt/slides/slide7.xml" Id="R9c104214da8d4b56" /><Relationship Type="http://schemas.openxmlformats.org/officeDocument/2006/relationships/slide" Target="/ppt/slides/slide8.xml" Id="R0048bc8726324d82" /><Relationship Type="http://schemas.openxmlformats.org/officeDocument/2006/relationships/slide" Target="/ppt/slides/slide9.xml" Id="Rc4de6409138a46cc" /><Relationship Type="http://schemas.openxmlformats.org/officeDocument/2006/relationships/slide" Target="/ppt/slides/slide10.xml" Id="Rc02e4ee0a3a3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48b65b0261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0345179564232" /><Relationship Type="http://schemas.openxmlformats.org/officeDocument/2006/relationships/notesMaster" Target="/ppt/notesMasters/notesMaster1.xml" Id="R4ad22c15e41444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13ae699c264d7c" /><Relationship Type="http://schemas.openxmlformats.org/officeDocument/2006/relationships/notesMaster" Target="/ppt/notesMasters/notesMaster1.xml" Id="R23ec6ac94b5648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721684cba489b" /><Relationship Type="http://schemas.openxmlformats.org/officeDocument/2006/relationships/notesMaster" Target="/ppt/notesMasters/notesMaster1.xml" Id="R922831df1331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e567e5edfe4cda" /><Relationship Type="http://schemas.openxmlformats.org/officeDocument/2006/relationships/notesMaster" Target="/ppt/notesMasters/notesMaster1.xml" Id="R6d1fd3c55ffe4b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c32a496a54fe9" /><Relationship Type="http://schemas.openxmlformats.org/officeDocument/2006/relationships/notesMaster" Target="/ppt/notesMasters/notesMaster1.xml" Id="R85e49ef2f4a7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c1da999b604503" /><Relationship Type="http://schemas.openxmlformats.org/officeDocument/2006/relationships/notesMaster" Target="/ppt/notesMasters/notesMaster1.xml" Id="R82f26d9bb8f846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a1ea9b32034d97" /><Relationship Type="http://schemas.openxmlformats.org/officeDocument/2006/relationships/notesMaster" Target="/ppt/notesMasters/notesMaster1.xml" Id="R9c160841c47b4a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0b0f2ea0de4117" /><Relationship Type="http://schemas.openxmlformats.org/officeDocument/2006/relationships/notesMaster" Target="/ppt/notesMasters/notesMaster1.xml" Id="R5f6a6e6854ae4e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72aed210ea4d93" /><Relationship Type="http://schemas.openxmlformats.org/officeDocument/2006/relationships/notesMaster" Target="/ppt/notesMasters/notesMaster1.xml" Id="R1dacd6dc1baf4d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daa32118a6456f" /><Relationship Type="http://schemas.openxmlformats.org/officeDocument/2006/relationships/notesMaster" Target="/ppt/notesMasters/notesMaster1.xml" Id="R70a1d8f5473f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오늘 제안은 AI 도구 소개가 아니라 여성용 가방몰의 반복 운영 업무를 줄이는 제안입니다.</a:t>
            </a:r>
          </a:p>
          <a:p xmlns:a="http://schemas.openxmlformats.org/drawingml/2006/main">
            <a:r>
              <a:t>- 소형 D2C몰은 상품, 문의, 반품, 콘텐츠, 보고가 한두 명에게 몰리기 쉽습니다.</a:t>
            </a:r>
          </a:p>
          <a:p xmlns:a="http://schemas.openxmlformats.org/drawingml/2006/main">
            <a:r>
              <a:t>- 핵심은 4주 안에 작은 자동화부터 실제 운영에 붙이는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시장 설명은 길게 하지 않고, 온라인·모바일 중심이라는 사실만 짚습니다.</a:t>
            </a:r>
          </a:p>
          <a:p xmlns:a="http://schemas.openxmlformats.org/drawingml/2006/main">
            <a:r>
              <a:t>- 2026년 1월 기준 온라인쇼핑 거래액은 24조 1,004억 원, 패션 상품군은 4조 8,025억 원입니다.</a:t>
            </a:r>
          </a:p>
          <a:p xmlns:a="http://schemas.openxmlformats.org/drawingml/2006/main">
            <a:r>
              <a:t>- 가방 모바일 거래 비중 68.4%는 모바일 문의와 상세페이지 품질이 중요하다는 근거입니다.</a:t>
            </a:r>
          </a:p>
          <a:p xmlns:a="http://schemas.openxmlformats.org/drawingml/2006/main">
            <a:r>
              <a:t>- 그래서 자동화의 출발점은 고객이 묻는 내용을 빠르게 정리하고, 상품 정보를 일관되게 만드는 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이 장에서는 운영자의 공감을 얻는 것이 목적입니다.</a:t>
            </a:r>
          </a:p>
          <a:p xmlns:a="http://schemas.openxmlformats.org/drawingml/2006/main">
            <a:r>
              <a:t>- 여성용 가방몰은 소재, 수납, 크기, 무게, 배송, 교환 질문이 반복됩니다.</a:t>
            </a:r>
          </a:p>
          <a:p xmlns:a="http://schemas.openxmlformats.org/drawingml/2006/main">
            <a:r>
              <a:t>- 반복 질문이 쌓이면 대표나 운영팀이 상품 개발과 마케팅보다 응대와 정리에 시간을 씁니다.</a:t>
            </a:r>
          </a:p>
          <a:p xmlns:a="http://schemas.openxmlformats.org/drawingml/2006/main">
            <a:r>
              <a:t>- 자동화는 큰 시스템을 한 번에 바꾸는 것이 아니라 반복되는 업무 덩어리를 고르는 것에서 시작합니다.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고객 이탈은 마케팅 문제가 아니라 운영 속도 문제이기도 합니다.</a:t>
            </a:r>
          </a:p>
          <a:p xmlns:a="http://schemas.openxmlformats.org/drawingml/2006/main">
            <a:r>
              <a:t>- Baymard는 온라인 장바구니 이탈 평균을 70.19%로 제시합니다.</a:t>
            </a:r>
          </a:p>
          <a:p xmlns:a="http://schemas.openxmlformats.org/drawingml/2006/main">
            <a:r>
              <a:t>- Zendesk 리테일 자료는 느린 응답과 1차 해결 실패가 고객 경험의 주요 불만이라는 점을 보여줍니다.</a:t>
            </a:r>
          </a:p>
          <a:p xmlns:a="http://schemas.openxmlformats.org/drawingml/2006/main">
            <a:r>
              <a:t>- 가방몰은 사이즈, 무게, 수납, 배송, 교환 정보가 명확해야 구매 전 불안을 줄일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Before는 사람이 기억하고 수기로 처리하는 흐름입니다.</a:t>
            </a:r>
          </a:p>
          <a:p xmlns:a="http://schemas.openxmlformats.org/drawingml/2006/main">
            <a:r>
              <a:t>- After는 같은 문의가 들어와도 분류, 초안, 승인, 기록이 같은 순서로 돌아갑니다.</a:t>
            </a:r>
          </a:p>
          <a:p xmlns:a="http://schemas.openxmlformats.org/drawingml/2006/main">
            <a:r>
              <a:t>- 여기서 중요한 점은 완전 자동화가 아니라 사람 승인 단계가 포함된 안전한 자동화입니다.</a:t>
            </a:r>
          </a:p>
          <a:p xmlns:a="http://schemas.openxmlformats.org/drawingml/2006/main">
            <a:r>
              <a:t>- 이 구조가 잡혀야 Codex나 n8n 같은 도구가 실제 운영 성과로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Codex를 개발자 전용 도구로 설명하지 않고, 문서와 자동화 초안을 정리하는 작업 도구로 설명합니다.</a:t>
            </a:r>
          </a:p>
          <a:p xmlns:a="http://schemas.openxmlformats.org/drawingml/2006/main">
            <a:r>
              <a:t>- 가방몰에서는 상품 상세 설명 표준화, 문의 답변 초안, 주간 운영 보고서, 간단한 스크립트 보조에 바로 쓸 수 있습니다.</a:t>
            </a:r>
          </a:p>
          <a:p xmlns:a="http://schemas.openxmlformats.org/drawingml/2006/main">
            <a:r>
              <a:t>- 민감한 결정은 AI가 바로 실행하지 않고 사람이 승인하도록 둡니다.</a:t>
            </a:r>
          </a:p>
          <a:p xmlns:a="http://schemas.openxmlformats.org/drawingml/2006/main">
            <a:r>
              <a:t>- 발표 대상이 기술자가 아니라 운영자라면 "자동화 설계 보조자"라고 설명하면 이해하기 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세 가지 자동화는 고객이 바로 이해할 수 있는 업무 이름으로 설명합니다.</a:t>
            </a:r>
          </a:p>
          <a:p xmlns:a="http://schemas.openxmlformats.org/drawingml/2006/main">
            <a:r>
              <a:t>- CS는 문의 응답 속도, 상품등록은 모바일 상세 품질, 주간 보고는 대표의 의사결정 시간을 개선합니다.</a:t>
            </a:r>
          </a:p>
          <a:p xmlns:a="http://schemas.openxmlformats.org/drawingml/2006/main">
            <a:r>
              <a:t>- 환불 승인이나 할인 쿠폰 발행은 자동 실행하지 않고 초안과 승인 흐름으로 둡니다.</a:t>
            </a:r>
          </a:p>
          <a:p xmlns:a="http://schemas.openxmlformats.org/drawingml/2006/main">
            <a:r>
              <a:t>- 4주 컨설팅에서는 이 중 1~2개를 우선 적용 대상으로 고르는 방식이 현실적입니다.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n8n은 여러 도구를 연결해서 반복 작업을 자동으로 실행하게 하는 도구입니다.</a:t>
            </a:r>
          </a:p>
          <a:p xmlns:a="http://schemas.openxmlformats.org/drawingml/2006/main">
            <a:r>
              <a:t>- 기존 쇼핑몰, 시트, 메신저를 모두 바꾸자는 제안이 아니라 연결 흐름을 붙이는 제안입니다.</a:t>
            </a:r>
          </a:p>
          <a:p xmlns:a="http://schemas.openxmlformats.org/drawingml/2006/main">
            <a:r>
              <a:t>- Codex와 AI는 문서 초안, 분류 규칙, 간단한 자동화 스크립트 보조 역할을 맡습니다.</a:t>
            </a:r>
          </a:p>
          <a:p xmlns:a="http://schemas.openxmlformats.org/drawingml/2006/main">
            <a:r>
              <a:t>- 운영팀은 최종 승인과 예외 처리를 담당하므로 과한 자동화를 피할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이 장에서는 특정 절감액을 단정하지 않습니다.</a:t>
            </a:r>
          </a:p>
          <a:p xmlns:a="http://schemas.openxmlformats.org/drawingml/2006/main">
            <a:r>
              <a:t>- 대신 어떤 숫자를 모으면 ROI를 판단할 수 있는지 프레임을 제시합니다.</a:t>
            </a:r>
          </a:p>
          <a:p xmlns:a="http://schemas.openxmlformats.org/drawingml/2006/main">
            <a:r>
              <a:t>- 진단 전에는 현재 첫 답변 시간, 상품 등록 시간, 보고서 작성 시간을 측정합니다.</a:t>
            </a:r>
          </a:p>
          <a:p xmlns:a="http://schemas.openxmlformats.org/drawingml/2006/main">
            <a:r>
              <a:t>- 진단 후에는 같은 지표로 개선 여부를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가이드:</a:t>
            </a:r>
          </a:p>
          <a:p xmlns:a="http://schemas.openxmlformats.org/drawingml/2006/main">
            <a:r>
              <a:t>- 마지막 장은 기대 효과와 다음 행동을 분명히 요청합니다.</a:t>
            </a:r>
          </a:p>
          <a:p xmlns:a="http://schemas.openxmlformats.org/drawingml/2006/main">
            <a:r>
              <a:t>- 4주 과정은 진단, 설계, 연결, 운영 적용으로 설명합니다.</a:t>
            </a:r>
          </a:p>
          <a:p xmlns:a="http://schemas.openxmlformats.org/drawingml/2006/main">
            <a:r>
              <a:t>- 지금 필요한 결정은 전체 시스템 구축 승인이 아니라 첫 진단 미팅과 업무 후보 선정입니다.</a:t>
            </a:r>
          </a:p>
          <a:p xmlns:a="http://schemas.openxmlformats.org/drawingml/2006/main">
            <a:r>
              <a:t>- 발표 후에는 어떤 업무부터 자동화할지 3~5개 후보를 받는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651344be248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928fba3995426c" /><Relationship Type="http://schemas.openxmlformats.org/officeDocument/2006/relationships/slideLayout" Target="/ppt/slideLayouts/slideLayout2.xml" Id="R45b96d54421e49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96d54421e49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96ceced45428d" /><Relationship Type="http://schemas.openxmlformats.org/officeDocument/2006/relationships/notesSlide" Target="/ppt/notesSlides/notesSlide1.xml" Id="R139d75c01a2d44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1a81a8dca48be" /><Relationship Type="http://schemas.openxmlformats.org/officeDocument/2006/relationships/notesSlide" Target="/ppt/notesSlides/notesSlide2.xml" Id="Raf52d98f505a4b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a5b32b82443db" /><Relationship Type="http://schemas.openxmlformats.org/officeDocument/2006/relationships/notesSlide" Target="/ppt/notesSlides/notesSlide3.xml" Id="R5ebee43dc00c46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c625c9ac604409" /><Relationship Type="http://schemas.openxmlformats.org/officeDocument/2006/relationships/notesSlide" Target="/ppt/notesSlides/notesSlide4.xml" Id="Rc77772729718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f8452c0d64293" /><Relationship Type="http://schemas.openxmlformats.org/officeDocument/2006/relationships/notesSlide" Target="/ppt/notesSlides/notesSlide5.xml" Id="R67dfd550e742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8907db9aab4057" /><Relationship Type="http://schemas.openxmlformats.org/officeDocument/2006/relationships/notesSlide" Target="/ppt/notesSlides/notesSlide6.xml" Id="R78977e51149f41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aaf44c2b24a4d" /><Relationship Type="http://schemas.openxmlformats.org/officeDocument/2006/relationships/notesSlide" Target="/ppt/notesSlides/notesSlide7.xml" Id="R9a8b1803c61a4f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970b375374cbd" /><Relationship Type="http://schemas.openxmlformats.org/officeDocument/2006/relationships/notesSlide" Target="/ppt/notesSlides/notesSlide8.xml" Id="R063964348b4747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b1d198272f4994" /><Relationship Type="http://schemas.openxmlformats.org/officeDocument/2006/relationships/notesSlide" Target="/ppt/notesSlides/notesSlide9.xml" Id="R53219ae79f7e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2719f4a0134078" /><Relationship Type="http://schemas.openxmlformats.org/officeDocument/2006/relationships/notesSlide" Target="/ppt/notesSlides/notesSlide10.xml" Id="Rba1e3df26a434f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09F3594-D229-4191-88A0-E5DF807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F4C011FF-3B17-4067-9650-8F5E13B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AUTOMATION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23F80-D7FE-46FA-90C2-644A21B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가방몰의 반복 업무를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매출 회수 흐름으로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04077-1679-4E2B-85E6-539B8A6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rPr>
              <a:t>국내 소형 D2C 여성용 가방 온라인몰을 위한</a:t>
            </a:r>
          </a:p>
          <a:p xmlns:a="http://schemas.openxmlformats.org/drawingml/2006/main">
            <a:pPr algn="l">
              <a:defRPr sz="150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rPr>
              <a:t>10~15분 AI 자동화 컨설팅 제안서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D216-7903-4058-B8CD-BC37D03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D775C-CDAB-4936-A145-EA9967BA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4주 진단 + 작은 자동화부터 적용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77B0B-22E3-48A0-B776-E6BAD4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E2">
              <a:alpha val="784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993F1-CB03-4446-91AD-9348BECA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238500" cy="42672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588C5-37EE-4259-B721-F3EECDB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7D6BB-EAF8-4BCF-9476-C10E28D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1285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0062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4D157-3A30-45BA-980A-BFFD06C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2FF3C-5DCB-4843-AF79-87D51B9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81300"/>
            <a:ext cx="1047750" cy="5143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BA2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E4D3E-446A-4A9F-81D6-4528A27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76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문의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반품</a:t>
            </a:r>
          </a:p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보고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7AB83-1A4F-4727-B052-E836089F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6EEBF-614D-4DE6-9620-9E4D8D6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053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상품 등록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5F8E8-0956-4A80-882C-76F357B1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71A0B-9824-4873-B17E-B7CC20EF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CS 초안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FCE12-5E18-4F3D-A2BC-EBA91B6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673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7C549-7717-4A4E-BBD3-04B6875C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435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주간 리포트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99992-BC68-4EDD-8082-20E175E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0686A-00F8-463D-A03B-9928972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  <a:cs typeface="Malgun Gothic"/>
              </a:rPr>
              <a:t>자료: deck_project/design.md, deck_project/business_context.md, OpenAI 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54D84-4753-43F7-9525-BDD0E4B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8092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AB8D1D5-AF89-4099-9AA6-40D24DD8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77836B4-9FAD-4F75-AA91-29DCE691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시장 신호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95EAC-C832-49A8-90E9-37534C8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패션 온라인몰은 이미 모바일 중심 경쟁입니다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DFB89-C382-4BD7-8BF5-B81E2A1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가방 카테고리도 모바일 쇼핑 비중이 높아, 빠른 응대와 명확한 상품 정보가 매출 방어선이 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7BC8E-C9DB-4750-879D-F49CD703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C069F-2ADE-4D76-8836-A39CB24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24.1조원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9CA67-78B9-4D1A-A50E-E93858F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2026년 1월 온라인쇼핑 거래액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9B25B-AB08-49FB-8A32-DB701CF5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686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국내 온라인쇼핑 전체 규모. 전년동월 대비 8.6% 증가.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EA35F-A538-4212-B265-E7CBD92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80BA1-079B-4403-A739-7CC981D1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4.8조원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84262-0869-49A0-97BB-C8FC04F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패션 상품군 거래액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47D47-DCA2-4C45-A284-F105AB2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686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의복, 신발, 가방, 패션용품 등 패션 상품군 합계.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8E094-DEEF-40D1-89C5-71E2DA50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9277C-96C6-4FAD-8EB0-22D785D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CBA25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BA258"/>
                </a:solidFill>
                <a:latin typeface="Arial"/>
                <a:ea typeface="Arial"/>
                <a:cs typeface="Arial"/>
              </a:rPr>
              <a:t>68.4%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506F5-44E8-46EA-B581-4DAE57C9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가방 모바일 거래 비중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AC4BF-AD1E-4B65-A520-0CC41F3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686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가방 구매 여정은 모바일에서 시작되고 문의도 모바일 채널로 몰립니다.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BE3B9-0447-4833-A7E2-38183D6E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33950"/>
            <a:ext cx="8801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93560-B1DB-440D-9A7E-B300BE6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해석: 모바일 상세페이지와 문의 응대가 느리면, 광고비로 데려온 고객이 구매 전에 빠져나갑니다.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FE6E3-F238-4AE4-83F8-59DB48E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102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5D1DF-F520-4766-8BBE-157B0BD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876925"/>
            <a:ext cx="506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운영 자동화의 첫 목표는 응답 속도와 상품정보 품질입니다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B3D87-F463-454E-A70D-6A32D9D2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C965C-3B3D-4530-B5F4-F20BE4A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통계청, 2026년 1월 온라인쇼핑동향 보도자료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F8BCC-9F87-4451-861D-8AABFE9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0387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95F6E57-82DF-4AB2-8AC8-ED51EA4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4DE865CC-27CD-4A67-95B2-93FF90F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운영 병목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D0870-C09B-47F0-B9A5-2F0AF47C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작은 가방몰의 문제는 상품이 아니라 운영 반복입니다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F1EED-C138-40EB-A8F1-083E1045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상품이 늘고 채널이 많아질수록 대표와 운영팀은 같은 질문, 같은 정리, 같은 보고를 반복합니다.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328D3-D380-485B-945E-D89F79E5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EEC30-ACF6-411D-806C-F201984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/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E005C-20C9-40AE-A8CA-CC8A720F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-2743200" cy="-1162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C7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DC3C0-06EA-4498-9192-52713B7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DB121-CE08-4394-AE33-D222CF1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상품 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DA612-59DB-4478-86AA-7FB0A68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소재·사이즈·색상 설명을 매번 다시 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C2C8-3BC2-41C5-98DE-40819D4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143125" cy="-1162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C7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AE727-80C3-409A-8F3D-15F586C3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B83A6-084A-4A9E-A5A9-2781535B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669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CS 응대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5651A-FB12-4051-8B8D-97CFC349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배송, 재입고, 교환 질문이 반복 유입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D8E5B-7945-4812-AA3D-FAF956E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95275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C7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2C761-5E49-4CB3-97FE-9C3EBF1C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767CE-EDC8-467F-BC32-DD0CC1B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반품/교환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B0CFF-9A39-4518-B453-2079AF5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정책 확인과 고객 안내가 사람에게 의존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A9AA4-B3F6-4D19-8AC3-F05BEF13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-590550" cy="1714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C7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5C8AB-099D-473C-ACED-D6E98D9A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911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11B4F-4F8E-4CE6-917D-3B58EF9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43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재고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5E0BA-DF8C-43D7-BAB6-FD16170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911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채널별 재고와 품절 알림이 늦어짐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37250-CBD0-4BA1-887F-B18D1104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-400050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C7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67B8E-08D1-40DC-9868-0D627F9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04C93-3F00-4366-97A6-A7891F3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콘텐츠/광고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D2BCD-3F2E-4ECD-A2AF-25891F2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후기, 상세문구, 캠페인 소재가 흩어짐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6E240-4625-4A4D-8674-CEBB1CD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58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23194-9282-4535-AB08-25DF21B6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자동화의 시작점: 가장 자주 반복되는 질문과 문서부터 표준화합니다.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423C5-44E7-467C-BF73-21C409E9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65630-DC65-414D-9F4E-389E1C9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deck_project/business_context.md, 서울시전자상거래센터 2024 전자상거래 피해상담 분석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F9789-F09F-4195-B7AC-7AF22D7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8949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7D7E925-F719-4EF2-A279-D423E1D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C18A211-2B30-4627-A8F8-9CC9585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고객 이탈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E729-A680-46E0-AAC8-EA827A4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느린 답변과 불분명한 정보가 구매 전환을 놓치게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FB8DA-D879-4C96-A7DD-4642F1E4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가방 구매는 비교와 확인이 많은 품목입니다. 답변이 늦거나 반품 기준이 흐리면 장바구니 이후 고객이 멈춥니다.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1BFBE-AD00-4C4A-B359-5FC0938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B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05B68-13AE-4510-8AC6-5B7C31C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813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778-C114-4047-BF94-028D0BD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상품조회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4E54B-5667-4878-A424-AAEC9A50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상세 정보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1851C-0079-4143-9BA5-56F6055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19450"/>
            <a:ext cx="1524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C7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76FAF-2BA4-45E7-8439-CF3EF729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337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C7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41D13-130E-4449-AE06-B7B780D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B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B2F42-97DA-4308-A763-BDC61A17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813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8E10E-ED31-4D08-B3FE-9FD11F8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문의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FC907-242F-4414-9744-FD5C791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33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사이즈·배송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4470E-A403-4092-A0D0-CC42C50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19450"/>
            <a:ext cx="1524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C7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BC36B-BEF0-4BDC-AB82-EC7A7A1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C7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B0B4C-61CF-4E74-BD4E-AC912BCA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B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79A24-B49D-4040-8048-DC6265C0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813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98FFE-6770-49BC-8657-2CCA5B45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장바구니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465F3-0192-4652-9296-753B0EA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가격·배송비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E12EA-01B7-45B3-855C-095B480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1524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C7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BA48F-02BF-480E-AE6A-3CC1E7C3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337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C7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B384D-0E61-49CD-B383-50D78B1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241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241"/>
          </a:solidFill>
          <a:ln xmlns:a="http://schemas.openxmlformats.org/drawingml/2006/main" w="19050">
            <a:solidFill>
              <a:srgbClr val="0062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DD3DD-8D4E-42C4-B2DB-369663F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813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74960-B2ED-4FFE-A846-BEE4249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10193-3521-423B-B397-7D0456C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33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구매 완료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74ABC-4391-4736-946F-54C6BCD6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A2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AC69FF-545F-470E-B486-E6FA801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느린 응답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99440-8DCF-4CF1-87F6-733E9BE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3840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구매 전 질문이 대기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4714D-B7AE-471A-9AFE-E9A79AF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6300"/>
            <a:ext cx="2895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B9B7B6-4A35-4630-883C-9804A076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장바구니 이탈 평균 70.19%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90BA6-BFBD-4D22-BCDA-EDA829D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0540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결제 전 불확실성을 줄여야 합니다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95019-1C36-4F88-A4CC-ADF7C9F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BCB0B-C324-48D6-AE23-62E4FA3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24425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반품·환불 문의도 반복 리스크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555F4-7335-4ABB-A9B0-115CC003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571F00-7B1D-44A8-B7EF-C8D2DF9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Baymard Institute, Zendesk CX Trends 2026 Retail, 한국소비자원 의류 온라인쇼핑 피해 주의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EA3A94-7F48-45D9-A487-6A6CE73D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9221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8CBC66F-C436-486A-AC45-70F8F1C0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F437235E-B10D-4797-BA57-08B8FF5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제안 핵심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3E5E5-2954-4BBB-82C8-CA2EAE34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AI 도구가 아니라 ‘반복 업무 흐름’을 자동화합니다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1A644-A919-4E05-805F-68A9B06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도구를 하나 더 사는 방식보다, 문의·상품정보·보고가 같은 순서로 처리되게 만드는 것이 먼저입니다.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8087B-A4A8-4ABE-AFA3-B2CB8E4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94A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94A48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D83DF-4914-43BE-BFA4-A9050585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A89E7-A407-475A-95E7-093BE8D9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2B7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A2174-2E74-4FC2-82DB-4A7A55D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문의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880F9-DD87-488C-851E-1B0235CD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2B7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D1030-FABB-484F-9B01-B3A3DC5C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담당자 기억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9A63B-DFF3-4066-9C0E-D23E6A03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2B7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6E8B3-AACA-4D97-A7CB-9DCBB773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수기 답변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89D1E-6EAA-469D-8E3A-E9AAF336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2B7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B2C10-885A-4CBD-880A-A95DB6EE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148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보고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065C6-8E10-4E9A-AEEB-F923D83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62275"/>
            <a:ext cx="495300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65E70-1EFD-4902-B035-2F64989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90950"/>
            <a:ext cx="-514350" cy="266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FE520-6FB6-44FD-BEE7-BDC5BBF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57650"/>
            <a:ext cx="571500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47C49-0727-4A5F-9555-11E106EA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57472-60F9-4B62-802C-7DB6556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733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업무 흐름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표준화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5E5BD-BEBD-4AD2-A228-128823D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rPr>
              <a:t>정리 → 초안 → 승인 →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8EAAD-2E59-44A9-A191-6DFCFFD9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38650"/>
            <a:ext cx="1162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7101F-0529-4335-AF4E-DC7E5775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053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사람 승인 포함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FA7B1-6B4D-4AC1-84BD-EF611B1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D9AEC-CC65-4268-A5D7-672E9B15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자동 분류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1B036-E1CF-41C2-B955-6EDAEC8F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8915C-29A6-4E45-8C70-7BED0084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답변 초안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75A51-A089-456C-8431-44424D6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6A182-F474-4925-A0BC-236278F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95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29074-5882-4D7E-890B-6E83E785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E2AA1-77EA-4301-BCBB-4C1B0085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95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기록/보고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26DC02-45E0-4B15-B7CB-DA3E7D8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285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2C4B8-84FB-4C2D-B98E-64AFD517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314700"/>
            <a:ext cx="0" cy="685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757F2-BF47-4523-8800-BA29A38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24350"/>
            <a:ext cx="-285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36E5D-471F-456A-B5FB-AFD1969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00500"/>
            <a:ext cx="0" cy="-685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84273-525E-44AE-9589-79625101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AE68E-A545-491C-ADC0-D00F566F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deck_project/business_context.md, Gorgias Ecommerce Benchmarks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6585A-202C-457B-9E91-FF6B438A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739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D0F4EFE-67F0-42E0-A31C-AFD7863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E029AA4-6A37-4245-99ED-EF53B6F6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Codex 활용안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1CC20-A988-4B60-86A0-B576AADC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Codex는 상품·문서·자동화 설계를 빠르게 정리합니다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C47D2-E301-4547-A8E3-62DCFCD5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운영자가 반복해서 쓰는 문서와 규칙을 구조화하고, 자동화에 필요한 초안과 스크립트까지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502D9-07FF-4AA3-A903-24DE94A5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7442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AB44D-771E-466E-B097-4D5A2260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1526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41C23-9F47-425D-8858-F8534E99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F0FE3-21CF-4E9F-9DA6-A1AE735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97223-2D1F-4AC5-9EED-5568EC3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상품정보 표준안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C7233-A223-4617-A524-7DF5202B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소재, 크기, 무게, 수납, 착용 상황을 같은 순서로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EFFEC-B67A-4A45-8144-049F8D14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BE156-754E-4250-B8F3-6B2AFC2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21526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F53F4-C0DE-4754-844A-FDE57DDF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0C7E9-BAED-4ED3-85FF-9BF2CDE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432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9536D-915A-4B31-AB53-06A68D0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CS 답변 템플릿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D233B-A331-4ABD-B1EB-F28D1706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배송·재입고·교환 문의를 상황별 초안으로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2A4A6-9D18-47C1-8ACC-CF01595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338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256DB-8CCD-4A88-83DB-26BE9EC2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21526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3AB14-E8D7-4787-AF42-1376FCE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28023-4F87-4584-A02C-E6D7254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432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C2E17-6886-46A7-BBA5-5E58E62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주간 보고서 초안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067A0-1047-4EF0-B466-2CC18764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주문, 재고, 문의, 반품 흐름을 한 장으로 요약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9C8E9-A668-4D6C-B33F-04B329D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94BFD-AD8C-4116-8CE3-DEBDA8C2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05100"/>
            <a:ext cx="21526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C62B9-0493-44BC-BBC8-C7CAA9B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0F513-CDAB-46BD-9357-BF5B3B8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5D22E-5135-4E83-94C7-A10F431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자동화 스크립트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ADA7C-E7F1-4FBD-B860-5D5E59BC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시트 정리, 파일명 규칙, 간단한 데이터 처리 보조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7240C3-0BCE-475E-BD22-C5D578AE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D84F8-0055-48AC-A5BB-BC09DAF2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19750"/>
            <a:ext cx="541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C642C-9DCB-498E-82A2-365F5F4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8642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업무 운영자가 직접 수정 가능한 문서와 규칙으로 남깁니다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ECD9C-BE4F-4F30-974B-8E526E0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주의: 환불 승인, 할인 발행, 개인정보 처리처럼 민감한 업무는 AI 초안 + 사람 확인 방식으로 설계합니다.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B58AD-6CB4-4E7B-A344-929DF4A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F55AA-90DE-4D64-BC94-7B6160A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OpenAI Codex, deck_project/business_context.md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E3D2C-7CA2-487D-B416-F715D5A7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7939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9821D81-34E4-48A3-B630-E81C3B88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AC6A02D-3324-44AD-BDB6-807C0F7F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자동화 솔루션 3종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D6C1E-01E6-4696-962D-6FED4C6A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먼저 줄일 업무는 CS, 상품등록, 주간 보고입니다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748C-2C26-40FD-8991-6404E50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소형몰은 큰 시스템보다 반복 빈도가 높고 리스크가 낮은 업무부터 자동화해야 효과가 빠르게 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9B395-28E7-4BA9-863D-BB4BAA9A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5A4D2-FCAD-4565-A4EE-C247B68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76D2-0DA0-43DF-B5ED-19D18C2A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문의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83197-85B8-4A0A-A54F-FAFC908D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CS 분류 / 답변 초안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E395A-70F7-4FE7-A794-D5693A2E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배송, 재입고, 색상, 교환 문의를 자동 분류하고 답변 초안을 준비합니다.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효과: 첫 답변 대기 시간을 줄이고 응대 품질을 일정하게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FEF03-6015-4EC9-B728-D749772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1790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A0B6A-8223-4534-9F1F-31BCD40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529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초안 + 사람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A4329-B42E-454C-9D9C-AF6F91DC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A1E04-5B73-445C-90DD-8E68C8D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EB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F8646-2793-461A-B00A-A2B2E36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431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E233E-FC42-4BF0-9909-4AC3940A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상품 상세 / 태그 초안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F9DEA-9AFA-4E17-BE86-97B6B45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가방 소재, 크기, 수납, 착용 상황을 같은 형식으로 정리하고 검색 태그를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효과: 상품 등록 시간을 줄이고 모바일 상세 정보를 선명하게 만듭니다.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4C271-46AA-4CF8-82E8-87106347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86300"/>
            <a:ext cx="1790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2F9D7-9930-4E96-8B2F-AEE527D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AI 초안 + 사람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FBB10-EC4D-4D41-98D3-179E1591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79088-52DC-4D9A-94B7-60B39C1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EB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1CED4-D807-48A0-AAFB-3CE7EE5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보고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30504-32D2-408A-A9C8-9E5E81CC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재고 / 판매 리포트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1B72F-4B2E-4C2F-A971-04A5F659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819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주문, 품절, 문의, 반품 데이터를 주간 보고서 초안으로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효과: 대표가 매주 숫자를 모으는 시간을 줄입니다.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004E3-94F6-4567-84E1-913B3A64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790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E59C0-415C-4959-94D9-367877A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529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AI 초안 + 사람 승인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08F19-2A1F-4C57-9D64-5EE2F82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우선순위 기준: 반복 빈도 높음 + 매출/고객 경험 영향 큼 + 자동 실행 리스크 낮음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A85E1-5083-4982-8CB4-F79FDDD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A0818-D098-46EA-8E76-20154F8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Gorgias Ecommerce Benchmarks, 한국소비자원, 고객사 진단 후 세부 수치 확정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9FE56-2061-443B-A76D-88D3221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1595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B2AA49B-3932-4C27-9665-168C235B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694F4E2-3990-43AE-B45A-8A956D9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업무 연결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9B5CA-187C-4110-B28D-9D0A238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n8n이 쇼핑몰·시트·메신저·AI를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92894-391F-441D-B0F2-9DFA3ED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각 도구를 바꾸는 것이 아니라, 이미 쓰는 채널 사이에 자동 처리 흐름을 붙이는 방식으로 시작합니다.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1A40-1CA8-4505-BEAC-45F0855F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FFC6B-B7E1-4997-8499-350EB5C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카페24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826AC-42C6-44A2-9DD9-0A63C7E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47900"/>
            <a:ext cx="1790700" cy="1143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AB9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371E4-4719-476B-AAC5-F67FC441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BF365-5ED9-4DFA-A833-A8F2D66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스마트스토어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D1272-6BB7-4E3B-8613-9ADE09B7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1790700" cy="-5524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AB9B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960B3-19B3-484E-91C4-06A19E5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BB358-2CE0-475C-805E-10A3F4FD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카카오채널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B3943-045B-4953-8B69-D0EF3CC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81400"/>
            <a:ext cx="1790700" cy="-1219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AB9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CCD07-3F45-434C-A8E1-9880ACF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5EBA4-9FA2-458A-BD44-46A7B02E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구글시트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129B-D3ED-4A1A-8C08-BF797F0E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48150"/>
            <a:ext cx="1790700" cy="-18859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AB9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94CAB-C8E9-4F28-9B15-36C12A1D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58F45-9841-48C8-8C8D-A36E9E62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노션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0110F-B4AF-4EDB-9141-CB4D4E9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4900"/>
            <a:ext cx="1790700" cy="-2552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AB9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C6066-4A3D-486F-B09D-71D768C7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1B33E-BFE7-4A21-B1E4-8C2E8DD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0515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n8n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F61C4-7F4C-4802-98DD-5EBE9ABF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433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rPr>
              <a:t>업무 흐름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10DB7-1BCE-4404-B44A-1E850FC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1200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8FA54-D6E1-420B-B243-54396039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1866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62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4E843-D4B2-4C76-8835-409BB6D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Codex /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0F16F-113D-41B2-B132-4FB7150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14700"/>
            <a:ext cx="129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초안 생성</a:t>
            </a:r>
          </a:p>
          <a:p xmlns:a="http://schemas.openxmlformats.org/drawingml/2006/main">
            <a:pPr algn="ctr">
              <a:def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분류 규칙 정리</a:t>
            </a:r>
          </a:p>
          <a:p xmlns:a="http://schemas.openxmlformats.org/drawingml/2006/main">
            <a:pPr algn="ctr">
              <a:def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스크립트 보조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51DE5-30F0-4B3C-902C-8498359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800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7B0A9-38B4-4242-A5EC-B9012FC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24150"/>
            <a:ext cx="1447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AF708-DE1B-4CE8-84B3-422FEC2F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289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운영팀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E8EF4-FACB-4AD1-B0C5-82CF90EC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  <a:p xmlns:a="http://schemas.openxmlformats.org/drawingml/2006/main">
            <a:pPr algn="ctr">
              <a:def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  <a:p xmlns:a="http://schemas.openxmlformats.org/drawingml/2006/main">
            <a:pPr algn="ctr">
              <a:def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EBE17-05F0-4186-BA23-F327727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91150"/>
            <a:ext cx="5048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11415-A5A7-4988-9405-F30F56D9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실행 전 민감 업무는 승인 단계로 잠급니다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33D0B-D054-4A6C-8AE9-63633D0F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0CB96A-D35E-4BC9-9F28-9539B65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n8n Docs, n8n AI Workflow Automation, OpenAI Codex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ACC97-0614-41B9-B0DB-AE47E22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7544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141E6A3-D6DC-41F4-B921-8E026E9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0331FD97-DC13-48DF-8BCC-F3A0F91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ROI 프레임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84CE6-29D3-44E2-87A0-99D3131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효과는 ‘시간 절감 + 전환 회수 + 반품 리스크 관리’로 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DEB8C-1013-40CB-A99F-668CE087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실제 금액은 진단 후 입력하되, 의사결정자는 같은 계산식으로 자동화 우선순위를 비교할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5134B-CC66-4D52-A52E-458F617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10BA9-17B7-4E9B-9249-41DE2BD2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05075"/>
            <a:ext cx="967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월 기대효과 = 절감시간 가치 + 전환 회수 가치 + 반품/환불 리스크 감소 - 자동화 운영비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BB390-D983-4183-A635-7CED15ED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758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※ 고객사의 주문 수, 문의 수, 평균 객단가, 운영 시간을 진단한 뒤 숫자를 확정합니다.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3E9C8-7F52-4A77-A758-0866AE3B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24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B39E-CAA8-46B0-9D07-739D724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09702-2D9A-4F19-9162-07BDBDF1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4C628-2032-47EC-A274-DCED8061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528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진단 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CF8F6-0AD4-4F7E-B55B-16CEC24F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0CE9F-299A-4045-9F88-5E5169B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진단 후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BC447-863E-4BB7-A199-B656799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41BDE-DE81-45EA-9BB5-C91EF68D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5285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확인 방법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DEB4C-0E55-4470-BEE7-CF37FDC0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EC16F-F73F-4C5B-A58B-3221A812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CS 첫 답변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1E6FD-298A-43FA-86BA-3A05616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A28CA-CDCB-4CD9-B325-AC780664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00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[현재값 입력]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0540D-0967-4471-AAC3-121F6A37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386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DD1A7-0A35-48B0-9D56-F9D8584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00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2시간 이내 목표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FD15F-E0D0-4332-BC15-5DE6D44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8DBCF-F7D1-4F07-89ED-D5BB96E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채널별 첫 답변 시간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DAC6F-F5A5-47FA-9181-8E39F1AE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70775-829E-468D-89E7-7B637F8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상품 등록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BA5C2-AAE0-4109-90A1-A14ACA1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D1904-E9E1-4413-9040-D42E314E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[현재값 입력]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04D12-DEEC-4A6F-BAB8-889FCC3E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529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DDEF2-E062-4C24-8712-B0D8903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44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초안 자동 생성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8CF80-E692-47DA-9511-79430CB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D4B93-F459-4709-95BB-2B3C7A14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244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상품 1개 등록 소요시간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9E964-D61A-4FD4-9348-5FAA5ED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F3FEB-3E45-4490-812A-B808DA9E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주간 보고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1C09F-67D7-43E6-AE5F-3313CF9D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673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59C1E-6C20-41E7-9DDD-3FAD7107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387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[현재값 입력]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7C25B7-9C42-4DFA-80F3-99F423BD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673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1F3800-1B9B-4FE4-94EE-C83C6F3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387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자동 초안 + 검토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17EC6A-413D-465E-95C8-2AB4E26C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673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EDEB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25D74A-E52B-4F70-AB99-0253DFCE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387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B1F1E"/>
                </a:solidFill>
                <a:latin typeface="Malgun Gothic"/>
                <a:ea typeface="Malgun Gothic"/>
                <a:cs typeface="Malgun Gothic"/>
              </a:rPr>
              <a:t>보고서 작성 시간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D0A919-CCBB-4C04-A917-CB8A54F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2FF4B-6E87-4E3B-A985-244E0A1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24550"/>
            <a:ext cx="4191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0380C-352D-486B-A656-E5525CD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91225"/>
            <a:ext cx="3924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3932"/>
                </a:solidFill>
                <a:latin typeface="Malgun Gothic"/>
                <a:ea typeface="Malgun Gothic"/>
                <a:cs typeface="Malgun Gothic"/>
              </a:rPr>
              <a:t>실제 ROI는 첫 진단 미팅에서 숫자 입력 후 계산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6D577D-86EB-4D09-92A5-E293ED9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A11793-9545-4A0D-8DB9-2B26027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자료: Gorgias Ecommerce Benchmarks, Baymard Institute, 고객사 운영 데이터 진단 후 확정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6B41C6-A7C7-4567-98FB-1A5A6F4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2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24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10289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3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EB5EA098-5767-4158-9BEE-ED6E280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44FBD99-65C9-43F8-8161-DE29FF6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로드맵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DFD7A-FFD3-401B-ACED-C6A506D9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33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4주 안에 작은 자동화부터 운영에 붙입니다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4F4AB-DC5C-4BAF-A847-163B78F3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  <a:cs typeface="Malgun Gothic"/>
              </a:rPr>
              <a:t>다음 단계는 큰 시스템 구축이 아니라, 자동화할 반복 업무를 함께 고르는 첫 진단입니다.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CE76A-8A5E-490D-B087-E7DE3BB7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74311-B536-475F-904E-030ED4F5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1주차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AD37-BEE1-490B-94CC-D57045C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업무 진단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0C1BA-868E-449E-809F-1D727B45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문의·상품·보고 업무량 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31AC6-BAB0-4E61-940B-949CA786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533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CBA2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EE0E9-601B-4F4D-BCD4-34F6FCB1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FA631-93C5-4408-8AC5-FEE806A1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2주차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A278F-B5A2-432A-8717-525D99C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흐름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9A8B5-FE83-4426-B09F-32CB29D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147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초안·승인·기록 순서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C551F-3A03-42DD-96F4-722DC65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533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CBA2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3936F-2568-4014-AE91-24B5FF0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CAFE9-4A92-4F15-B84D-C9CB365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3주차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B7D04-6DC6-4386-90B8-7392675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도구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488B5-C6BD-4C71-9F4C-010C8D77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n8n + 시트 + AI 초안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8FD7B-D68E-4405-97C2-839A86CE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533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CBA2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79AD4-8B92-4481-848B-EA2E6802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784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E7E88-26E8-4E4E-8BF4-10B13D0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BA258"/>
                </a:solidFill>
                <a:latin typeface="Malgun Gothic"/>
                <a:ea typeface="Malgun Gothic"/>
                <a:cs typeface="Malgun Gothic"/>
              </a:rPr>
              <a:t>4주차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C845E-2D71-493C-AEEC-10654851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적용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367AC-E73D-4355-85CE-4AC6DE93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>
                    <a:alpha val="72157"/>
                  </a:srgbClr>
                </a:solidFill>
                <a:latin typeface="Malgun Gothic"/>
                <a:ea typeface="Malgun Gothic"/>
                <a:cs typeface="Malgun Gothic"/>
              </a:rPr>
              <a:t>가이드와 개선 후보 전달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33269-051C-485C-A5C6-8B101140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결정할 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7DAD2-A5EF-4DE0-B575-69AA8835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0289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8C562-A349-437C-98B8-36CFB95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업무 후보 3~5개 선정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6D9A8-C060-4DE1-A852-1D656000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CS, 상품등록, 보고 중 우선순위 결정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8E350-070D-4BE4-994F-1C69A01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30289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5CE53-CC15-463B-A36E-D96E5A5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863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도구 접근 권한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0EA73-3330-48D6-96BE-4656F9E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864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쇼핑몰, 시트, 메신저, 문서 권한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6ADFD-879E-4A0D-94D6-3BFF01E2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30289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86ACC-1B8D-4D76-8BE6-FC58E9CA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6241"/>
                </a:solidFill>
                <a:latin typeface="Malgun Gothic"/>
                <a:ea typeface="Malgun Gothic"/>
                <a:cs typeface="Malgun Gothic"/>
              </a:rPr>
              <a:t>첫 진단 미팅 확정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02140F-B935-473B-AC85-A07E1C2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864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9716D"/>
                </a:solidFill>
                <a:latin typeface="Malgun Gothic"/>
                <a:ea typeface="Malgun Gothic"/>
                <a:cs typeface="Malgun Gothic"/>
              </a:rPr>
              <a:t>60~90분 운영 흐름 인터뷰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B16C3A-846B-4A2C-9136-0790EB1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5800"/>
            <a:ext cx="2228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07169-DB8D-40CF-9DC1-1DE7DFBC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52475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파일럿 진행 승인 요청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D42D06-03D3-4DDF-BF28-B120CB8A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C9CC59-6ED1-4B73-B6F5-BF6885E3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  <a:cs typeface="Malgun Gothic"/>
              </a:rPr>
              <a:t>자료: deck_project/deck_brief.md, 고객사 진단 후 상세 일정 확정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FF06F3-D397-49A0-9783-9E02786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898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2026-06-01T12:34:18.5680000Z</dcterms:created>
  <dcterms:modified xsi:type="dcterms:W3CDTF">2026-06-01T12:34:18.5680000Z</dcterms:modified>
</coreProperties>
</file>